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6" r:id="rId4"/>
    <p:sldId id="271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C1996150-8B3B-4772-92F2-638427BA140D}">
          <p14:sldIdLst>
            <p14:sldId id="256"/>
          </p14:sldIdLst>
        </p14:section>
        <p14:section name="Introduction" id="{40C2C478-731A-41A8-B9E1-BEB6A8639C03}">
          <p14:sldIdLst>
            <p14:sldId id="257"/>
            <p14:sldId id="266"/>
            <p14:sldId id="271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2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26" y="3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microsoft.com/office/2007/relationships/hdphoto" Target="../media/hdphoto1.wdp"/><Relationship Id="rId7" Type="http://schemas.openxmlformats.org/officeDocument/2006/relationships/diagramLayout" Target="../diagrams/layout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1.xml"/><Relationship Id="rId11" Type="http://schemas.openxmlformats.org/officeDocument/2006/relationships/image" Target="../media/image4.png"/><Relationship Id="rId5" Type="http://schemas.microsoft.com/office/2007/relationships/hdphoto" Target="../media/hdphoto2.wdp"/><Relationship Id="rId10" Type="http://schemas.microsoft.com/office/2007/relationships/diagramDrawing" Target="../diagrams/drawing1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2.xml"/><Relationship Id="rId3" Type="http://schemas.microsoft.com/office/2007/relationships/hdphoto" Target="../media/hdphoto1.wdp"/><Relationship Id="rId7" Type="http://schemas.openxmlformats.org/officeDocument/2006/relationships/diagramLayout" Target="../diagrams/layout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2.xml"/><Relationship Id="rId11" Type="http://schemas.openxmlformats.org/officeDocument/2006/relationships/image" Target="../media/image5.jpeg"/><Relationship Id="rId5" Type="http://schemas.microsoft.com/office/2007/relationships/hdphoto" Target="../media/hdphoto2.wdp"/><Relationship Id="rId10" Type="http://schemas.microsoft.com/office/2007/relationships/diagramDrawing" Target="../diagrams/drawing2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3.xml"/><Relationship Id="rId3" Type="http://schemas.microsoft.com/office/2007/relationships/hdphoto" Target="../media/hdphoto1.wdp"/><Relationship Id="rId7" Type="http://schemas.openxmlformats.org/officeDocument/2006/relationships/diagramLayout" Target="../diagrams/layout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3.xml"/><Relationship Id="rId11" Type="http://schemas.openxmlformats.org/officeDocument/2006/relationships/image" Target="../media/image6.png"/><Relationship Id="rId5" Type="http://schemas.microsoft.com/office/2007/relationships/hdphoto" Target="../media/hdphoto2.wdp"/><Relationship Id="rId10" Type="http://schemas.microsoft.com/office/2007/relationships/diagramDrawing" Target="../diagrams/drawing3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4.xml"/><Relationship Id="rId3" Type="http://schemas.microsoft.com/office/2007/relationships/hdphoto" Target="../media/hdphoto1.wdp"/><Relationship Id="rId7" Type="http://schemas.openxmlformats.org/officeDocument/2006/relationships/diagramLayout" Target="../diagrams/layout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4.xml"/><Relationship Id="rId11" Type="http://schemas.openxmlformats.org/officeDocument/2006/relationships/image" Target="../media/image7.gif"/><Relationship Id="rId5" Type="http://schemas.microsoft.com/office/2007/relationships/hdphoto" Target="../media/hdphoto2.wdp"/><Relationship Id="rId10" Type="http://schemas.microsoft.com/office/2007/relationships/diagramDrawing" Target="../diagrams/drawing4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5.xml"/><Relationship Id="rId3" Type="http://schemas.microsoft.com/office/2007/relationships/hdphoto" Target="../media/hdphoto1.wdp"/><Relationship Id="rId7" Type="http://schemas.openxmlformats.org/officeDocument/2006/relationships/diagramLayout" Target="../diagrams/layout5.xml"/><Relationship Id="rId12" Type="http://schemas.openxmlformats.org/officeDocument/2006/relationships/image" Target="../media/image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5.xml"/><Relationship Id="rId11" Type="http://schemas.openxmlformats.org/officeDocument/2006/relationships/image" Target="../media/image8.png"/><Relationship Id="rId5" Type="http://schemas.microsoft.com/office/2007/relationships/hdphoto" Target="../media/hdphoto2.wdp"/><Relationship Id="rId10" Type="http://schemas.microsoft.com/office/2007/relationships/diagramDrawing" Target="../diagrams/drawing5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5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6.xml"/><Relationship Id="rId3" Type="http://schemas.microsoft.com/office/2007/relationships/hdphoto" Target="../media/hdphoto1.wdp"/><Relationship Id="rId7" Type="http://schemas.openxmlformats.org/officeDocument/2006/relationships/diagramColors" Target="../diagrams/colors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6.xml"/><Relationship Id="rId5" Type="http://schemas.openxmlformats.org/officeDocument/2006/relationships/diagramLayout" Target="../diagrams/layout6.xml"/><Relationship Id="rId4" Type="http://schemas.openxmlformats.org/officeDocument/2006/relationships/diagramData" Target="../diagrams/data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7.xml"/><Relationship Id="rId3" Type="http://schemas.microsoft.com/office/2007/relationships/hdphoto" Target="../media/hdphoto1.wdp"/><Relationship Id="rId7" Type="http://schemas.openxmlformats.org/officeDocument/2006/relationships/diagramLayout" Target="../diagrams/layout7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7.xml"/><Relationship Id="rId11" Type="http://schemas.openxmlformats.org/officeDocument/2006/relationships/image" Target="../media/image10.png"/><Relationship Id="rId5" Type="http://schemas.microsoft.com/office/2007/relationships/hdphoto" Target="../media/hdphoto2.wdp"/><Relationship Id="rId10" Type="http://schemas.microsoft.com/office/2007/relationships/diagramDrawing" Target="../diagrams/drawing7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8.xml"/><Relationship Id="rId3" Type="http://schemas.microsoft.com/office/2007/relationships/hdphoto" Target="../media/hdphoto1.wdp"/><Relationship Id="rId7" Type="http://schemas.openxmlformats.org/officeDocument/2006/relationships/diagramLayout" Target="../diagrams/layout8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8.xml"/><Relationship Id="rId5" Type="http://schemas.microsoft.com/office/2007/relationships/hdphoto" Target="../media/hdphoto2.wdp"/><Relationship Id="rId10" Type="http://schemas.microsoft.com/office/2007/relationships/diagramDrawing" Target="../diagrams/drawing8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9.xml"/><Relationship Id="rId3" Type="http://schemas.microsoft.com/office/2007/relationships/hdphoto" Target="../media/hdphoto1.wdp"/><Relationship Id="rId7" Type="http://schemas.openxmlformats.org/officeDocument/2006/relationships/diagramLayout" Target="../diagrams/layout9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9.xml"/><Relationship Id="rId5" Type="http://schemas.microsoft.com/office/2007/relationships/hdphoto" Target="../media/hdphoto2.wdp"/><Relationship Id="rId10" Type="http://schemas.microsoft.com/office/2007/relationships/diagramDrawing" Target="../diagrams/drawing9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9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0.xml"/><Relationship Id="rId3" Type="http://schemas.microsoft.com/office/2007/relationships/hdphoto" Target="../media/hdphoto1.wdp"/><Relationship Id="rId7" Type="http://schemas.openxmlformats.org/officeDocument/2006/relationships/diagramLayout" Target="../diagrams/layout10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10.xml"/><Relationship Id="rId5" Type="http://schemas.microsoft.com/office/2007/relationships/hdphoto" Target="../media/hdphoto2.wdp"/><Relationship Id="rId10" Type="http://schemas.microsoft.com/office/2007/relationships/diagramDrawing" Target="../diagrams/drawing10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10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rgbClr val="002060"/>
            </a:gs>
            <a:gs pos="0">
              <a:srgbClr val="002060"/>
            </a:gs>
            <a:gs pos="58000">
              <a:srgbClr val="C0000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8651" y="666384"/>
            <a:ext cx="10324535" cy="5495265"/>
          </a:xfr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US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driven design</a:t>
            </a:r>
            <a:br>
              <a:rPr lang="en-US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cap="none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Tackling complexity in the heart of software</a:t>
            </a:r>
            <a:r>
              <a:rPr lang="en-US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0643" y="366346"/>
            <a:ext cx="743997" cy="7439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92324" y="5652828"/>
            <a:ext cx="185820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September</a:t>
            </a:r>
            <a:r>
              <a:rPr lang="en-US" i="1" dirty="0" smtClean="0">
                <a:solidFill>
                  <a:schemeClr val="bg1"/>
                </a:solidFill>
              </a:rPr>
              <a:t> 2020</a:t>
            </a:r>
            <a:endParaRPr lang="en-US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8319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857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941100" y="138387"/>
            <a:ext cx="1029295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err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Khó</a:t>
            </a:r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khăn</a:t>
            </a:r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gặp</a:t>
            </a:r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56603" y="928468"/>
            <a:ext cx="9931791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thay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endParaRPr lang="en-US" sz="2400" dirty="0" smtClean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Phụ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database 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đảm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nhất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quán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Clr>
                <a:srgbClr val="C00000"/>
              </a:buClr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AutoShape 10" descr="What is the Big Ball of Mud Anti-Pattern?"/>
          <p:cNvSpPr>
            <a:spLocks noChangeAspect="1" noChangeArrowheads="1"/>
          </p:cNvSpPr>
          <p:nvPr/>
        </p:nvSpPr>
        <p:spPr bwMode="auto">
          <a:xfrm>
            <a:off x="241775" y="1137330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9681" y="2654384"/>
            <a:ext cx="6505634" cy="374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753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397" y="-14065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968" y="151450"/>
            <a:ext cx="1029295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Driven Design </a:t>
            </a:r>
            <a:r>
              <a:rPr lang="en-US" sz="3600" u="sng" dirty="0" err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gì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01859" y="956603"/>
            <a:ext cx="993179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2" descr="Domain Driven Design Tools - Custom software development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824" t="3999" r="11284" b="2691"/>
          <a:stretch/>
        </p:blipFill>
        <p:spPr bwMode="auto">
          <a:xfrm>
            <a:off x="801859" y="1418268"/>
            <a:ext cx="3110593" cy="4248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/>
          <p:cNvSpPr/>
          <p:nvPr/>
        </p:nvSpPr>
        <p:spPr>
          <a:xfrm>
            <a:off x="4881747" y="1418268"/>
            <a:ext cx="6921563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Phương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lấy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(domain)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làm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tâm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domain model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trọng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tâm</a:t>
            </a:r>
            <a:endParaRPr lang="en-US" sz="2400" dirty="0" smtClean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Tăng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cường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cộng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giữa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nhóm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kỹ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thuật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 developers )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chuyê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gia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 domain expert )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Clr>
                <a:srgbClr val="C00000"/>
              </a:buClr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8305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32093" y="177576"/>
            <a:ext cx="1029295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err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Stragetic</a:t>
            </a:r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Design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https://ilegra.com/wp-content/uploads/2021/03/imagem1.png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0447" y="1458232"/>
            <a:ext cx="8096250" cy="4210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0709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Ubiquitous Language -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Ngôn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chung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05394" y="1001483"/>
            <a:ext cx="52968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vi-VN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Ngôn ngữ được sử dụng trong cả kĩ thuật lẫn trong nghiệp vụ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vi-VN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Được phản ánh trong code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vi-VN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Được phản ánh trong tất cả tính năng của hệ thống</a:t>
            </a:r>
            <a:endParaRPr lang="vi-VN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4" descr="Strategic Domain Driven Design with Context Mapping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3309" y="1001483"/>
            <a:ext cx="4257675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0791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535576" y="242891"/>
            <a:ext cx="1094667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Bounded Context -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cảnh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giới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hạn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4293" y="1087232"/>
            <a:ext cx="993179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độc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lập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nối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nhau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qua context map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microservice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4" descr="Bounded Context Example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93" y="2924375"/>
            <a:ext cx="4610100" cy="2981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Microservices, bounded context, cohesion. What do they have in common? |  Hacker Noon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6059" y="3122385"/>
            <a:ext cx="5246192" cy="210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2813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5" name="Rectangle 4"/>
          <p:cNvSpPr/>
          <p:nvPr/>
        </p:nvSpPr>
        <p:spPr>
          <a:xfrm>
            <a:off x="1301938" y="293971"/>
            <a:ext cx="337674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Space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 flipH="1" flipV="1">
            <a:off x="6152265" y="293971"/>
            <a:ext cx="19866" cy="60801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45709" y="293971"/>
            <a:ext cx="337674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 Space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73161" y="1234273"/>
            <a:ext cx="5589243" cy="1885434"/>
            <a:chOff x="232298" y="1498600"/>
            <a:chExt cx="5589243" cy="1885434"/>
          </a:xfrm>
        </p:grpSpPr>
        <p:sp>
          <p:nvSpPr>
            <p:cNvPr id="15" name="Rectangle 14"/>
            <p:cNvSpPr/>
            <p:nvPr/>
          </p:nvSpPr>
          <p:spPr>
            <a:xfrm>
              <a:off x="2163941" y="1498600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Domain</a:t>
              </a:r>
              <a:endParaRPr lang="en-US" dirty="0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163941" y="2660134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Subdomain</a:t>
              </a:r>
              <a:endParaRPr lang="en-US" dirty="0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221341" y="2660134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Subdomain</a:t>
              </a:r>
              <a:endParaRPr lang="en-US" dirty="0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32298" y="2660134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Subdomain</a:t>
              </a:r>
              <a:endParaRPr lang="en-US" dirty="0"/>
            </a:p>
          </p:txBody>
        </p:sp>
        <p:cxnSp>
          <p:nvCxnSpPr>
            <p:cNvPr id="19" name="Straight Arrow Connector 18"/>
            <p:cNvCxnSpPr>
              <a:stCxn id="15" idx="2"/>
              <a:endCxn id="16" idx="0"/>
            </p:cNvCxnSpPr>
            <p:nvPr/>
          </p:nvCxnSpPr>
          <p:spPr>
            <a:xfrm>
              <a:off x="2964041" y="2222500"/>
              <a:ext cx="0" cy="4376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>
              <a:stCxn id="15" idx="1"/>
              <a:endCxn id="18" idx="0"/>
            </p:cNvCxnSpPr>
            <p:nvPr/>
          </p:nvCxnSpPr>
          <p:spPr>
            <a:xfrm flipH="1">
              <a:off x="1032398" y="1860550"/>
              <a:ext cx="1131543" cy="799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5" idx="3"/>
              <a:endCxn id="17" idx="0"/>
            </p:cNvCxnSpPr>
            <p:nvPr/>
          </p:nvCxnSpPr>
          <p:spPr>
            <a:xfrm>
              <a:off x="3764141" y="1860550"/>
              <a:ext cx="1257300" cy="799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2" name="Flowchart: Process 21"/>
          <p:cNvSpPr/>
          <p:nvPr/>
        </p:nvSpPr>
        <p:spPr>
          <a:xfrm>
            <a:off x="8178765" y="1057536"/>
            <a:ext cx="2006600" cy="5397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Domain Model</a:t>
            </a:r>
            <a:endParaRPr lang="en-US" dirty="0"/>
          </a:p>
        </p:txBody>
      </p:sp>
      <p:sp>
        <p:nvSpPr>
          <p:cNvPr id="23" name="Rectangle 22"/>
          <p:cNvSpPr/>
          <p:nvPr/>
        </p:nvSpPr>
        <p:spPr>
          <a:xfrm>
            <a:off x="6820801" y="2110712"/>
            <a:ext cx="4722528" cy="3888098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lowchart: Process 23"/>
          <p:cNvSpPr/>
          <p:nvPr/>
        </p:nvSpPr>
        <p:spPr>
          <a:xfrm>
            <a:off x="7080986" y="2845421"/>
            <a:ext cx="1967166" cy="12491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Bounded Context</a:t>
            </a:r>
          </a:p>
          <a:p>
            <a:pPr algn="ctr"/>
            <a:r>
              <a:rPr lang="en-US" dirty="0" smtClean="0">
                <a:solidFill>
                  <a:srgbClr val="FFFF00"/>
                </a:solidFill>
              </a:rPr>
              <a:t>Ubiquitous Language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28" name="Flowchart: Process 27"/>
          <p:cNvSpPr/>
          <p:nvPr/>
        </p:nvSpPr>
        <p:spPr>
          <a:xfrm>
            <a:off x="9383751" y="2840364"/>
            <a:ext cx="1967166" cy="12491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Bounded Context</a:t>
            </a:r>
          </a:p>
          <a:p>
            <a:pPr algn="ctr"/>
            <a:r>
              <a:rPr lang="en-US" dirty="0" smtClean="0">
                <a:solidFill>
                  <a:srgbClr val="FFFF00"/>
                </a:solidFill>
              </a:rPr>
              <a:t>Ubiquitous Language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29" name="Flowchart: Process 28"/>
          <p:cNvSpPr/>
          <p:nvPr/>
        </p:nvSpPr>
        <p:spPr>
          <a:xfrm>
            <a:off x="9383751" y="4485857"/>
            <a:ext cx="1967166" cy="12491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Bounded Context</a:t>
            </a:r>
          </a:p>
          <a:p>
            <a:pPr algn="ctr"/>
            <a:r>
              <a:rPr lang="en-US" dirty="0" smtClean="0">
                <a:solidFill>
                  <a:srgbClr val="FFFF00"/>
                </a:solidFill>
              </a:rPr>
              <a:t>Ubiquitous Language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30" name="Flowchart: Process 29"/>
          <p:cNvSpPr/>
          <p:nvPr/>
        </p:nvSpPr>
        <p:spPr>
          <a:xfrm>
            <a:off x="7080986" y="4488681"/>
            <a:ext cx="1967166" cy="12491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Bounded Context</a:t>
            </a:r>
          </a:p>
          <a:p>
            <a:pPr algn="ctr"/>
            <a:r>
              <a:rPr lang="en-US" dirty="0" smtClean="0">
                <a:solidFill>
                  <a:srgbClr val="FFFF00"/>
                </a:solidFill>
              </a:rPr>
              <a:t>Ubiquitous Language</a:t>
            </a:r>
            <a:endParaRPr lang="en-US" dirty="0">
              <a:solidFill>
                <a:srgbClr val="FFFF00"/>
              </a:solidFill>
            </a:endParaRPr>
          </a:p>
        </p:txBody>
      </p:sp>
      <p:cxnSp>
        <p:nvCxnSpPr>
          <p:cNvPr id="32" name="Straight Connector 31"/>
          <p:cNvCxnSpPr>
            <a:stCxn id="24" idx="2"/>
            <a:endCxn id="30" idx="0"/>
          </p:cNvCxnSpPr>
          <p:nvPr/>
        </p:nvCxnSpPr>
        <p:spPr>
          <a:xfrm>
            <a:off x="8064569" y="4094571"/>
            <a:ext cx="0" cy="39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24" idx="3"/>
            <a:endCxn id="28" idx="1"/>
          </p:cNvCxnSpPr>
          <p:nvPr/>
        </p:nvCxnSpPr>
        <p:spPr>
          <a:xfrm flipV="1">
            <a:off x="9048152" y="3464939"/>
            <a:ext cx="335599" cy="50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9048152" y="4089514"/>
            <a:ext cx="335599" cy="396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28" idx="2"/>
            <a:endCxn id="29" idx="0"/>
          </p:cNvCxnSpPr>
          <p:nvPr/>
        </p:nvCxnSpPr>
        <p:spPr>
          <a:xfrm>
            <a:off x="10367334" y="4089514"/>
            <a:ext cx="0" cy="396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417064" y="6115554"/>
            <a:ext cx="559777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Context Map </a:t>
            </a:r>
            <a:r>
              <a:rPr lang="en-US" sz="1600" dirty="0"/>
              <a:t>:  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Bản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chất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của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các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quan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hệ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Bounded Context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2" name="Straight Arrow Connector 41"/>
          <p:cNvCxnSpPr>
            <a:stCxn id="22" idx="2"/>
            <a:endCxn id="23" idx="0"/>
          </p:cNvCxnSpPr>
          <p:nvPr/>
        </p:nvCxnSpPr>
        <p:spPr>
          <a:xfrm>
            <a:off x="9182065" y="1597286"/>
            <a:ext cx="0" cy="5134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35707" y="222799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Context map</a:t>
            </a:r>
            <a:endParaRPr lang="en-US" b="1" u="sng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337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Tactical Design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7" name="Picture 2" descr="Domain driven design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2081" y="1253331"/>
            <a:ext cx="6039791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9899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909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Entity –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83622" y="950463"/>
            <a:ext cx="1065493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danh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bất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biến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duy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nhất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Chứa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logic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riêng</a:t>
            </a:r>
            <a:endParaRPr lang="en-US" sz="2400" dirty="0" smtClean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nên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cân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nhắc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xem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đối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tượn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Entity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65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smtClean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Value Object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83622" y="950463"/>
            <a:ext cx="1065493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danh</a:t>
            </a:r>
            <a:endParaRPr lang="en-US" sz="2400" dirty="0" smtClean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vi-VN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Nếu các thuộc tính đều có cùng giá trị thì là các object như nhau.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043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Supported training programs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622" y="950463"/>
            <a:ext cx="10654937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ASP.NET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 Intensive training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 training program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Docker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Azure Fundamentals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7447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rgbClr val="002060"/>
            </a:gs>
            <a:gs pos="0">
              <a:srgbClr val="C00000"/>
            </a:gs>
            <a:gs pos="58000">
              <a:srgbClr val="00206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4851" y="659567"/>
            <a:ext cx="5651292" cy="424731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US" sz="5400" b="1" dirty="0" smtClean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5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54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endParaRPr lang="en-US" sz="5400" b="1" dirty="0" smtClean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5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4174"/>
          <a:stretch/>
        </p:blipFill>
        <p:spPr>
          <a:xfrm>
            <a:off x="5651881" y="-13447"/>
            <a:ext cx="65446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93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340</TotalTime>
  <Words>244</Words>
  <Application>Microsoft Office PowerPoint</Application>
  <PresentationFormat>Widescreen</PresentationFormat>
  <Paragraphs>55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Gill Sans MT</vt:lpstr>
      <vt:lpstr>Wingdings</vt:lpstr>
      <vt:lpstr>Wingdings 2</vt:lpstr>
      <vt:lpstr>Dividend</vt:lpstr>
      <vt:lpstr>Domain driven design Tackling complexity in the heart of software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program for MS Developers 2020</dc:title>
  <dc:creator>Tram Le</dc:creator>
  <cp:lastModifiedBy>AEGONA</cp:lastModifiedBy>
  <cp:revision>23</cp:revision>
  <dcterms:created xsi:type="dcterms:W3CDTF">2020-08-21T04:39:55Z</dcterms:created>
  <dcterms:modified xsi:type="dcterms:W3CDTF">2021-05-06T10:57:50Z</dcterms:modified>
</cp:coreProperties>
</file>